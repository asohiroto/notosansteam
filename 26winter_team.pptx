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4"/>
  </p:sldMasterIdLst>
  <p:sldIdLst>
    <p:sldId id="256" r:id="rId5"/>
    <p:sldId id="258" r:id="rId6"/>
    <p:sldId id="257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CE4-C702-42DD-A9C0-C45C85C3169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5682C-EE79-4903-A8D1-AEEE78D9B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11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CE4-C702-42DD-A9C0-C45C85C3169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5682C-EE79-4903-A8D1-AEEE78D9B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421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CE4-C702-42DD-A9C0-C45C85C3169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5682C-EE79-4903-A8D1-AEEE78D9B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61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CE4-C702-42DD-A9C0-C45C85C3169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5682C-EE79-4903-A8D1-AEEE78D9B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05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CE4-C702-42DD-A9C0-C45C85C3169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5682C-EE79-4903-A8D1-AEEE78D9B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787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CE4-C702-42DD-A9C0-C45C85C3169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5682C-EE79-4903-A8D1-AEEE78D9B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093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CE4-C702-42DD-A9C0-C45C85C3169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5682C-EE79-4903-A8D1-AEEE78D9B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662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CE4-C702-42DD-A9C0-C45C85C3169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5682C-EE79-4903-A8D1-AEEE78D9B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072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84DCFCE4-C702-42DD-A9C0-C45C85C3169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4355682C-EE79-4903-A8D1-AEEE78D9B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33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CE4-C702-42DD-A9C0-C45C85C3169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5682C-EE79-4903-A8D1-AEEE78D9B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60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CE4-C702-42DD-A9C0-C45C85C3169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5682C-EE79-4903-A8D1-AEEE78D9B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208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CE4-C702-42DD-A9C0-C45C85C3169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5682C-EE79-4903-A8D1-AEEE78D9B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9965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CE4-C702-42DD-A9C0-C45C85C3169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5682C-EE79-4903-A8D1-AEEE78D9B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2666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CE4-C702-42DD-A9C0-C45C85C3169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5682C-EE79-4903-A8D1-AEEE78D9B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20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CE4-C702-42DD-A9C0-C45C85C3169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5682C-EE79-4903-A8D1-AEEE78D9B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1317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CE4-C702-42DD-A9C0-C45C85C3169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5682C-EE79-4903-A8D1-AEEE78D9B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038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FCE4-C702-42DD-A9C0-C45C85C3169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5682C-EE79-4903-A8D1-AEEE78D9B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8810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4DCFCE4-C702-42DD-A9C0-C45C85C3169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55682C-EE79-4903-A8D1-AEEE78D9B8A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0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84DCFCE4-C702-42DD-A9C0-C45C85C3169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355682C-EE79-4903-A8D1-AEEE78D9B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611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0DED07A-AD9C-E2E5-0C08-8A940F269B81}"/>
              </a:ext>
            </a:extLst>
          </p:cNvPr>
          <p:cNvSpPr txBox="1"/>
          <p:nvPr/>
        </p:nvSpPr>
        <p:spPr>
          <a:xfrm>
            <a:off x="883227" y="749581"/>
            <a:ext cx="106663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くるりんダイブ！</a:t>
            </a:r>
            <a:endParaRPr lang="en-US" altLang="ja-JP" sz="100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0156645-8A48-543D-FD5C-26BE02C3CDE9}"/>
              </a:ext>
            </a:extLst>
          </p:cNvPr>
          <p:cNvSpPr txBox="1"/>
          <p:nvPr/>
        </p:nvSpPr>
        <p:spPr>
          <a:xfrm>
            <a:off x="5287818" y="3020934"/>
            <a:ext cx="5523057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チーム名　のとさんず</a:t>
            </a:r>
            <a:endParaRPr lang="en-US" altLang="ja-JP" sz="40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r>
              <a:rPr lang="ja-JP" altLang="en-US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メンバー</a:t>
            </a:r>
            <a:r>
              <a:rPr lang="en-US" altLang="ja-JP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		</a:t>
            </a:r>
            <a:r>
              <a:rPr lang="ja-JP" altLang="en-US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　１：麻生　大翔</a:t>
            </a:r>
            <a:endParaRPr lang="en-US" altLang="ja-JP" sz="28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r>
              <a:rPr lang="en-US" altLang="ja-JP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					</a:t>
            </a:r>
            <a:r>
              <a:rPr lang="ja-JP" altLang="en-US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　２：井手　威吹</a:t>
            </a:r>
            <a:endParaRPr lang="en-US" altLang="ja-JP" sz="28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r>
              <a:rPr lang="en-US" altLang="ja-JP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					</a:t>
            </a:r>
            <a:r>
              <a:rPr lang="ja-JP" altLang="en-US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　３：西村　輝空</a:t>
            </a:r>
            <a:endParaRPr lang="en-US" altLang="ja-JP" sz="28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r>
              <a:rPr lang="en-US" altLang="ja-JP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					</a:t>
            </a:r>
            <a:r>
              <a:rPr lang="ja-JP" altLang="en-US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　４：平木　諒</a:t>
            </a:r>
            <a:endParaRPr lang="en-US" sz="28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4926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1232226-1CA5-ECD0-0770-2F85FE3B8CCC}"/>
              </a:ext>
            </a:extLst>
          </p:cNvPr>
          <p:cNvSpPr txBox="1"/>
          <p:nvPr/>
        </p:nvSpPr>
        <p:spPr>
          <a:xfrm>
            <a:off x="542041" y="660567"/>
            <a:ext cx="70871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6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・参考にしたゲーム</a:t>
            </a:r>
            <a:endParaRPr lang="en-US" altLang="ja-JP" sz="60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21F2F12-B081-884F-829C-446A171BE6F2}"/>
              </a:ext>
            </a:extLst>
          </p:cNvPr>
          <p:cNvSpPr txBox="1"/>
          <p:nvPr/>
        </p:nvSpPr>
        <p:spPr>
          <a:xfrm>
            <a:off x="1311564" y="1893478"/>
            <a:ext cx="4155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800" dirty="0" err="1">
                <a:solidFill>
                  <a:srgbClr val="FF0000"/>
                </a:solidFill>
                <a:highlight>
                  <a:srgbClr val="000000"/>
                </a:highlight>
                <a:latin typeface="Noto Sans JP Black" panose="020B0200000000000000" pitchFamily="50" charset="-128"/>
                <a:ea typeface="Noto Sans JP Black" panose="020B0200000000000000" pitchFamily="50" charset="-128"/>
              </a:rPr>
              <a:t>Downwell</a:t>
            </a:r>
            <a:endParaRPr lang="en-US" sz="4800" dirty="0">
              <a:solidFill>
                <a:srgbClr val="FF0000"/>
              </a:solidFill>
              <a:highlight>
                <a:srgbClr val="000000"/>
              </a:highlight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53E9F4B-6840-0296-357F-CC09C7F4F9B3}"/>
              </a:ext>
            </a:extLst>
          </p:cNvPr>
          <p:cNvSpPr txBox="1"/>
          <p:nvPr/>
        </p:nvSpPr>
        <p:spPr>
          <a:xfrm>
            <a:off x="1311563" y="3989968"/>
            <a:ext cx="103539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死に覚えが好きなプレイヤー層 </a:t>
            </a:r>
            <a:r>
              <a:rPr lang="ja-JP" altLang="en-US" sz="4000" dirty="0">
                <a:highlight>
                  <a:srgbClr val="0000FF"/>
                </a:highlight>
                <a:latin typeface="Noto Sans JP Black" panose="020B0200000000000000" pitchFamily="50" charset="-128"/>
                <a:ea typeface="Noto Sans JP Black" panose="020B0200000000000000" pitchFamily="50" charset="-128"/>
              </a:rPr>
              <a:t>約</a:t>
            </a:r>
            <a:r>
              <a:rPr lang="en-US" altLang="ja-JP" sz="4000" dirty="0">
                <a:highlight>
                  <a:srgbClr val="0000FF"/>
                </a:highlight>
                <a:latin typeface="Noto Sans JP Black" panose="020B0200000000000000" pitchFamily="50" charset="-128"/>
                <a:ea typeface="Noto Sans JP Black" panose="020B0200000000000000" pitchFamily="50" charset="-128"/>
              </a:rPr>
              <a:t>15</a:t>
            </a:r>
            <a:r>
              <a:rPr lang="ja-JP" altLang="en-US" sz="4000" dirty="0">
                <a:highlight>
                  <a:srgbClr val="0000FF"/>
                </a:highlight>
                <a:latin typeface="Noto Sans JP Black" panose="020B0200000000000000" pitchFamily="50" charset="-128"/>
                <a:ea typeface="Noto Sans JP Black" panose="020B0200000000000000" pitchFamily="50" charset="-128"/>
              </a:rPr>
              <a:t>万人</a:t>
            </a:r>
            <a:endParaRPr lang="en-US" sz="4000" dirty="0">
              <a:highlight>
                <a:srgbClr val="0000FF"/>
              </a:highlight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65196CD-1A73-79A0-7CC7-0FAB604D43CB}"/>
              </a:ext>
            </a:extLst>
          </p:cNvPr>
          <p:cNvSpPr txBox="1"/>
          <p:nvPr/>
        </p:nvSpPr>
        <p:spPr>
          <a:xfrm>
            <a:off x="1311563" y="4862338"/>
            <a:ext cx="99181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AI2</a:t>
            </a:r>
            <a:r>
              <a:rPr lang="ja-JP" altLang="en-US" sz="24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モデルにターゲット層を試算させると、ともに</a:t>
            </a:r>
            <a:r>
              <a:rPr lang="en-US" altLang="ja-JP" sz="2400" dirty="0">
                <a:solidFill>
                  <a:srgbClr val="00B0F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30</a:t>
            </a:r>
            <a:r>
              <a:rPr lang="ja-JP" altLang="en-US" sz="2400" dirty="0">
                <a:solidFill>
                  <a:srgbClr val="00B0F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～</a:t>
            </a:r>
            <a:r>
              <a:rPr lang="en-US" altLang="ja-JP" sz="2400" dirty="0">
                <a:solidFill>
                  <a:srgbClr val="00B0F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100</a:t>
            </a:r>
            <a:r>
              <a:rPr lang="ja-JP" altLang="en-US" sz="2400" dirty="0">
                <a:solidFill>
                  <a:srgbClr val="00B0F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万人程度</a:t>
            </a:r>
            <a:endParaRPr lang="en-US" sz="2400" dirty="0">
              <a:solidFill>
                <a:srgbClr val="00B0F0"/>
              </a:solidFill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D900100-C175-91A7-78D9-006672862403}"/>
              </a:ext>
            </a:extLst>
          </p:cNvPr>
          <p:cNvSpPr txBox="1"/>
          <p:nvPr/>
        </p:nvSpPr>
        <p:spPr>
          <a:xfrm>
            <a:off x="1311564" y="5324003"/>
            <a:ext cx="9661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このゲームの</a:t>
            </a:r>
            <a:r>
              <a:rPr lang="ja-JP" altLang="en-US" sz="2400" dirty="0">
                <a:solidFill>
                  <a:srgbClr val="FF00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規模感</a:t>
            </a:r>
            <a:r>
              <a:rPr lang="ja-JP" altLang="en-US" sz="24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から、この想定よりも、</a:t>
            </a:r>
            <a:r>
              <a:rPr lang="ja-JP" altLang="en-US" sz="3200" dirty="0">
                <a:solidFill>
                  <a:srgbClr val="FFFF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さらに少ない</a:t>
            </a:r>
            <a:r>
              <a:rPr lang="ja-JP" altLang="en-US" sz="24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と予想</a:t>
            </a:r>
            <a:endParaRPr lang="en-US" sz="24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E5704D66-D44E-63E4-A974-6E03C72B5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238" y="678944"/>
            <a:ext cx="3705734" cy="2917901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194FE70-13B1-9D62-7B86-E3E0C6A1A82E}"/>
              </a:ext>
            </a:extLst>
          </p:cNvPr>
          <p:cNvSpPr txBox="1"/>
          <p:nvPr/>
        </p:nvSpPr>
        <p:spPr>
          <a:xfrm>
            <a:off x="542041" y="2941723"/>
            <a:ext cx="55707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6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・ターゲット層</a:t>
            </a:r>
            <a:endParaRPr lang="en-US" altLang="ja-JP" sz="60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18062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矢印: 下 10">
            <a:extLst>
              <a:ext uri="{FF2B5EF4-FFF2-40B4-BE49-F238E27FC236}">
                <a16:creationId xmlns:a16="http://schemas.microsoft.com/office/drawing/2014/main" id="{6EC74478-86DD-B7CC-CCCA-747CD49630AD}"/>
              </a:ext>
            </a:extLst>
          </p:cNvPr>
          <p:cNvSpPr/>
          <p:nvPr/>
        </p:nvSpPr>
        <p:spPr>
          <a:xfrm>
            <a:off x="7370618" y="2855148"/>
            <a:ext cx="2687782" cy="2760561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F329D2B-8BF4-3668-D209-F4BC0E160291}"/>
              </a:ext>
            </a:extLst>
          </p:cNvPr>
          <p:cNvSpPr txBox="1"/>
          <p:nvPr/>
        </p:nvSpPr>
        <p:spPr>
          <a:xfrm>
            <a:off x="618837" y="572654"/>
            <a:ext cx="67517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6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・コンセプト</a:t>
            </a:r>
            <a:endParaRPr lang="en-US" sz="60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BA0B9A0-D43D-4562-8300-5EF33E4C32F8}"/>
              </a:ext>
            </a:extLst>
          </p:cNvPr>
          <p:cNvSpPr txBox="1"/>
          <p:nvPr/>
        </p:nvSpPr>
        <p:spPr>
          <a:xfrm>
            <a:off x="7012598" y="3285896"/>
            <a:ext cx="33162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落下</a:t>
            </a:r>
            <a:endParaRPr lang="en-US" sz="120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B52F01A-E043-5F82-B1D2-934A883CEE5A}"/>
              </a:ext>
            </a:extLst>
          </p:cNvPr>
          <p:cNvSpPr txBox="1"/>
          <p:nvPr/>
        </p:nvSpPr>
        <p:spPr>
          <a:xfrm>
            <a:off x="5349674" y="2855148"/>
            <a:ext cx="149265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×</a:t>
            </a:r>
            <a:endParaRPr lang="en-US" sz="100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2" name="矢印: 右カーブ 1">
            <a:extLst>
              <a:ext uri="{FF2B5EF4-FFF2-40B4-BE49-F238E27FC236}">
                <a16:creationId xmlns:a16="http://schemas.microsoft.com/office/drawing/2014/main" id="{8F721B5A-CE97-FE8B-72EB-863D97B757D9}"/>
              </a:ext>
            </a:extLst>
          </p:cNvPr>
          <p:cNvSpPr/>
          <p:nvPr/>
        </p:nvSpPr>
        <p:spPr>
          <a:xfrm>
            <a:off x="2092883" y="3285896"/>
            <a:ext cx="2408575" cy="1999407"/>
          </a:xfrm>
          <a:prstGeom prst="curvedRightArrow">
            <a:avLst>
              <a:gd name="adj1" fmla="val 25934"/>
              <a:gd name="adj2" fmla="val 50000"/>
              <a:gd name="adj3" fmla="val 2500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521A615-1656-E0C6-AABE-C5A4EB0E0C53}"/>
              </a:ext>
            </a:extLst>
          </p:cNvPr>
          <p:cNvSpPr txBox="1"/>
          <p:nvPr/>
        </p:nvSpPr>
        <p:spPr>
          <a:xfrm>
            <a:off x="1655408" y="2612036"/>
            <a:ext cx="3283527" cy="19389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OffAxis1Right"/>
              <a:lightRig rig="threePt" dir="t"/>
            </a:scene3d>
          </a:bodyPr>
          <a:lstStyle/>
          <a:p>
            <a:r>
              <a:rPr lang="ja-JP" altLang="en-US" sz="12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回転</a:t>
            </a:r>
            <a:endParaRPr lang="en-US" sz="120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15899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F3E6193-B2CC-E985-C263-0192E071FB74}"/>
              </a:ext>
            </a:extLst>
          </p:cNvPr>
          <p:cNvSpPr txBox="1"/>
          <p:nvPr/>
        </p:nvSpPr>
        <p:spPr>
          <a:xfrm>
            <a:off x="971591" y="1864055"/>
            <a:ext cx="59482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１：下へどんどん</a:t>
            </a:r>
            <a:r>
              <a:rPr lang="ja-JP" altLang="en-US" sz="4400" dirty="0">
                <a:solidFill>
                  <a:srgbClr val="00B0F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落下！</a:t>
            </a:r>
            <a:endParaRPr lang="en-US" altLang="ja-JP" sz="4400" dirty="0">
              <a:solidFill>
                <a:srgbClr val="00B0F0"/>
              </a:solidFill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09D59FD-880E-9490-D9C8-B393508B1C3F}"/>
              </a:ext>
            </a:extLst>
          </p:cNvPr>
          <p:cNvSpPr txBox="1"/>
          <p:nvPr/>
        </p:nvSpPr>
        <p:spPr>
          <a:xfrm>
            <a:off x="971591" y="3036442"/>
            <a:ext cx="79912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２：空中で</a:t>
            </a:r>
            <a:r>
              <a:rPr lang="ja-JP" altLang="en-US" sz="3200" dirty="0">
                <a:solidFill>
                  <a:srgbClr val="FF00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ジャンプボタン</a:t>
            </a:r>
            <a:r>
              <a:rPr lang="ja-JP" altLang="en-US" sz="32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！</a:t>
            </a:r>
            <a:endParaRPr lang="en-US" altLang="ja-JP" sz="32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r>
              <a:rPr lang="ja-JP" altLang="en-US" sz="32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　　→敵や障害物を壊せる</a:t>
            </a:r>
            <a:r>
              <a:rPr lang="ja-JP" altLang="en-US" sz="3200" dirty="0">
                <a:solidFill>
                  <a:srgbClr val="FFFF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弾を撃てる</a:t>
            </a:r>
            <a:r>
              <a:rPr lang="ja-JP" altLang="en-US" sz="32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！</a:t>
            </a:r>
            <a:endParaRPr lang="en-US" altLang="ja-JP" sz="32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FE0F944-4F3A-7A4F-ADC2-45D3F6101E19}"/>
              </a:ext>
            </a:extLst>
          </p:cNvPr>
          <p:cNvSpPr txBox="1"/>
          <p:nvPr/>
        </p:nvSpPr>
        <p:spPr>
          <a:xfrm>
            <a:off x="971591" y="4516606"/>
            <a:ext cx="10834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３：ステージの</a:t>
            </a:r>
            <a:r>
              <a:rPr lang="ja-JP" altLang="en-US" sz="3200" dirty="0">
                <a:solidFill>
                  <a:srgbClr val="FF00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一番下</a:t>
            </a:r>
            <a:r>
              <a:rPr lang="ja-JP" altLang="en-US" sz="32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まで行ったら</a:t>
            </a:r>
            <a:r>
              <a:rPr lang="ja-JP" altLang="en-US" sz="4000" dirty="0">
                <a:solidFill>
                  <a:srgbClr val="FFFF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ステージクリア！</a:t>
            </a:r>
            <a:endParaRPr lang="en-US" altLang="ja-JP" sz="4000" dirty="0">
              <a:solidFill>
                <a:srgbClr val="FFFF00"/>
              </a:solidFill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ACD4BE29-AB93-8CE2-6266-57CE461AE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301" y="520687"/>
            <a:ext cx="3148715" cy="2479303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9B86FBA-1FE6-F273-339B-8C4AFDE9F297}"/>
              </a:ext>
            </a:extLst>
          </p:cNvPr>
          <p:cNvSpPr txBox="1"/>
          <p:nvPr/>
        </p:nvSpPr>
        <p:spPr>
          <a:xfrm>
            <a:off x="369455" y="520687"/>
            <a:ext cx="695498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66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・ゲームシステム</a:t>
            </a:r>
            <a:endParaRPr lang="en-US" altLang="ja-JP" sz="66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345902E-4BC4-711D-7D77-111D904FFB56}"/>
              </a:ext>
            </a:extLst>
          </p:cNvPr>
          <p:cNvSpPr txBox="1"/>
          <p:nvPr/>
        </p:nvSpPr>
        <p:spPr>
          <a:xfrm>
            <a:off x="8408634" y="2934227"/>
            <a:ext cx="2959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↑</a:t>
            </a:r>
            <a:r>
              <a:rPr lang="en-US" altLang="ja-JP" dirty="0" err="1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Downwell</a:t>
            </a:r>
            <a:r>
              <a:rPr lang="ja-JP" altLang="en-US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のゲーム画面</a:t>
            </a:r>
            <a:endParaRPr lang="en-US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62859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CAC3385-5E58-CA65-3CA7-92030CFFDEA2}"/>
              </a:ext>
            </a:extLst>
          </p:cNvPr>
          <p:cNvSpPr txBox="1"/>
          <p:nvPr/>
        </p:nvSpPr>
        <p:spPr>
          <a:xfrm>
            <a:off x="653184" y="649804"/>
            <a:ext cx="3438525" cy="13729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6000" dirty="0">
                <a:latin typeface="Noto Sans JP Black" panose="020B0200000000000000" pitchFamily="50" charset="-128"/>
                <a:ea typeface="Noto Sans JP Black" panose="020B0200000000000000" pitchFamily="50" charset="-128"/>
                <a:cs typeface="+mj-cs"/>
              </a:rPr>
              <a:t>・差別化</a:t>
            </a:r>
            <a:endParaRPr lang="en-US" sz="6000" dirty="0">
              <a:latin typeface="Noto Sans JP Black" panose="020B0200000000000000" pitchFamily="50" charset="-128"/>
              <a:ea typeface="Noto Sans JP Black" panose="020B0200000000000000" pitchFamily="50" charset="-128"/>
              <a:cs typeface="+mj-cs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56639C4-1B42-ED24-5C25-4233CEF9ECBB}"/>
              </a:ext>
            </a:extLst>
          </p:cNvPr>
          <p:cNvSpPr txBox="1"/>
          <p:nvPr/>
        </p:nvSpPr>
        <p:spPr>
          <a:xfrm>
            <a:off x="1251527" y="1742655"/>
            <a:ext cx="9688945" cy="9451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ja-JP" altLang="en-US" sz="32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ステージ内に</a:t>
            </a:r>
            <a:r>
              <a:rPr lang="ja-JP" altLang="en-US" sz="3200" dirty="0">
                <a:solidFill>
                  <a:schemeClr val="bg1"/>
                </a:solidFill>
                <a:highlight>
                  <a:srgbClr val="FFFF00"/>
                </a:highlight>
                <a:latin typeface="Noto Sans JP Black" panose="020B0200000000000000" pitchFamily="50" charset="-128"/>
                <a:ea typeface="Noto Sans JP Black" panose="020B0200000000000000" pitchFamily="50" charset="-128"/>
              </a:rPr>
              <a:t>避けられない</a:t>
            </a:r>
            <a:r>
              <a:rPr lang="ja-JP" altLang="en-US" sz="32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配置のギミックが！？</a:t>
            </a:r>
            <a:endParaRPr lang="en-US" altLang="ja-JP" sz="32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C98E764-382E-C41B-2E25-34CC620B4666}"/>
              </a:ext>
            </a:extLst>
          </p:cNvPr>
          <p:cNvSpPr txBox="1"/>
          <p:nvPr/>
        </p:nvSpPr>
        <p:spPr>
          <a:xfrm>
            <a:off x="1251526" y="3048000"/>
            <a:ext cx="9688945" cy="9451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ja-JP" altLang="en-US" sz="32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アイテムをゲットして</a:t>
            </a:r>
            <a:r>
              <a:rPr lang="ja-JP" altLang="en-US" sz="4400" dirty="0">
                <a:solidFill>
                  <a:srgbClr val="FF00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ステージを回転！</a:t>
            </a:r>
            <a:endParaRPr lang="en-US" altLang="ja-JP" sz="4400" dirty="0">
              <a:solidFill>
                <a:srgbClr val="FF0000"/>
              </a:solidFill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8C0EFA5-4FB2-CA19-7B24-BDACF15F9981}"/>
              </a:ext>
            </a:extLst>
          </p:cNvPr>
          <p:cNvSpPr txBox="1"/>
          <p:nvPr/>
        </p:nvSpPr>
        <p:spPr>
          <a:xfrm>
            <a:off x="653184" y="4719482"/>
            <a:ext cx="11113943" cy="9451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ja-JP" altLang="en-US" sz="6600" dirty="0">
                <a:solidFill>
                  <a:srgbClr val="FFFF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見る角度</a:t>
            </a:r>
            <a:r>
              <a:rPr lang="ja-JP" altLang="en-US" sz="32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を</a:t>
            </a:r>
            <a:r>
              <a:rPr lang="ja-JP" altLang="en-US" sz="3200" dirty="0">
                <a:solidFill>
                  <a:srgbClr val="00B0F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変化</a:t>
            </a:r>
            <a:r>
              <a:rPr lang="ja-JP" altLang="en-US" sz="32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させて</a:t>
            </a:r>
            <a:r>
              <a:rPr lang="ja-JP" altLang="en-US" sz="6600" dirty="0">
                <a:solidFill>
                  <a:srgbClr val="FF00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活路を開け！</a:t>
            </a:r>
            <a:endParaRPr lang="en-US" altLang="ja-JP" sz="6600" dirty="0">
              <a:solidFill>
                <a:srgbClr val="FF0000"/>
              </a:solidFill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18" name="矢印: 下 17">
            <a:extLst>
              <a:ext uri="{FF2B5EF4-FFF2-40B4-BE49-F238E27FC236}">
                <a16:creationId xmlns:a16="http://schemas.microsoft.com/office/drawing/2014/main" id="{B9BA546E-09BF-05FA-CB82-007B1A4C908E}"/>
              </a:ext>
            </a:extLst>
          </p:cNvPr>
          <p:cNvSpPr/>
          <p:nvPr/>
        </p:nvSpPr>
        <p:spPr>
          <a:xfrm>
            <a:off x="5227782" y="2447636"/>
            <a:ext cx="369454" cy="600364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矢印: 下 21">
            <a:extLst>
              <a:ext uri="{FF2B5EF4-FFF2-40B4-BE49-F238E27FC236}">
                <a16:creationId xmlns:a16="http://schemas.microsoft.com/office/drawing/2014/main" id="{6BC80D32-7AB6-DF99-1804-2B16888F5D69}"/>
              </a:ext>
            </a:extLst>
          </p:cNvPr>
          <p:cNvSpPr/>
          <p:nvPr/>
        </p:nvSpPr>
        <p:spPr>
          <a:xfrm>
            <a:off x="5227782" y="4073236"/>
            <a:ext cx="369454" cy="945127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293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メッシュ">
  <a:themeElements>
    <a:clrScheme name="メッシュ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メッシュ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メッシュ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1dfd936-ba68-4977-9d24-02754c144e1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0659C1CB043E754AB7B456E2CDD719B0" ma:contentTypeVersion="10" ma:contentTypeDescription="新しいドキュメントを作成します。" ma:contentTypeScope="" ma:versionID="d23f8b4c1f8f66d4c88d6eea0481f55c">
  <xsd:schema xmlns:xsd="http://www.w3.org/2001/XMLSchema" xmlns:xs="http://www.w3.org/2001/XMLSchema" xmlns:p="http://schemas.microsoft.com/office/2006/metadata/properties" xmlns:ns3="81dfd936-ba68-4977-9d24-02754c144e1a" targetNamespace="http://schemas.microsoft.com/office/2006/metadata/properties" ma:root="true" ma:fieldsID="e43effb99e989907989db4a1029401f0" ns3:_="">
    <xsd:import namespace="81dfd936-ba68-4977-9d24-02754c144e1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fd936-ba68-4977-9d24-02754c144e1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9E5B71-E278-46F0-9CBB-C4C763F2C50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99F770D-33BC-4E2E-B78B-EBBC06CF7AE3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81dfd936-ba68-4977-9d24-02754c144e1a"/>
  </ds:schemaRefs>
</ds:datastoreItem>
</file>

<file path=customXml/itemProps3.xml><?xml version="1.0" encoding="utf-8"?>
<ds:datastoreItem xmlns:ds="http://schemas.openxmlformats.org/officeDocument/2006/customXml" ds:itemID="{08A1CC82-FFEF-4DAE-897F-5C53331B24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fd936-ba68-4977-9d24-02754c144e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メッシュ</Template>
  <TotalTime>81</TotalTime>
  <Words>170</Words>
  <Application>Microsoft Office PowerPoint</Application>
  <PresentationFormat>ワイド画面</PresentationFormat>
  <Paragraphs>26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Noto Sans JP Black</vt:lpstr>
      <vt:lpstr>Arial</vt:lpstr>
      <vt:lpstr>Century Gothic</vt:lpstr>
      <vt:lpstr>メッシュ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麻生　大翔</dc:creator>
  <cp:lastModifiedBy>麻生　大翔</cp:lastModifiedBy>
  <cp:revision>3</cp:revision>
  <dcterms:created xsi:type="dcterms:W3CDTF">2026-09-10T08:59:26Z</dcterms:created>
  <dcterms:modified xsi:type="dcterms:W3CDTF">2026-09-15T09:23:27Z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0x0101000659C1CB043E754AB7B456E2CDD719B0</vt:lpwstr>
  </property>
</Properties>
</file>